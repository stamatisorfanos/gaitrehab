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39D63F-5A67-4828-AC99-A5FC7C4BD182}">
  <a:tblStyle styleId="{DA39D63F-5A67-4828-AC99-A5FC7C4BD1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Conference title slide. Author line can be expanded when the final coauthor list is confirmed.</a:t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Background framing requested by the presenter. No numerical cost claim is made on this slide.</a:t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slide presents the project rationale. SGAS-v2 is a sensor-derived cohort-relative construct and not a clinical stroke-severity scale.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The image frames are intentionally reserved for waveform examples supplied by the presenter.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783424544d57eac7_1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h783424544d57eac7_1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The image frames are intentionally reserved for waveform examples supplied by the presenter.</a:t>
            </a:r>
            <a:endParaRPr/>
          </a:p>
        </p:txBody>
      </p:sp>
      <p:sp>
        <p:nvSpPr>
          <p:cNvPr id="92" name="Google Shape;92;h783424544d57eac7_1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Raw archive: 16 healthy and 16 stroke. Sensor-quality processing retained 30 participants; 28 formed the matched multimodal cohort.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The valid fraction equals the mean of the bilateral gyroscope-validity vector.</a:t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QC checks included cycle counts, bilateral count ratio, stride variability, boundary-adjacent cycles, and bilateral validity.</a:t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SGAS-v2 is cohort-relative and does not replace a clinical stroke-severity scale.</a:t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The source document reports cohort counts but does not embed participant-specific QC figures. The slide therefore presents the documented cohort flow.</a:t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 /workspace/scratch/ad3407d0edac/upload/Materials_and_Methods_SGAS_v2_IMU_EMG(1).docx and /workspace/scratch/ad3407d0edac/upload/Journal_Ready_Results_IMU_EMG(1).docx. The displayed feature-frequency figure describes outer-fold stability, not causality.</a:t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/workspace/scratch/ad3407d0edac/upload/Materials_and_Methods_SGAS_v2_IMU_EMG(1).docx. Outer test predictions were never used for inner model, sensor, hyperparameter, or feature selection.</a:t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Figure 1. Primary IMU used 30 participants. Matched IMU, EMG, and IMU plus EMG used the same 28 participants. Confidence intervals overlap, so modality differences remain descriptive.</a:t>
            </a:r>
            <a:endParaRPr/>
          </a:p>
        </p:txBody>
      </p:sp>
      <p:sp>
        <p:nvSpPr>
          <p:cNvPr id="254" name="Google Shape;25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Figure 2.</a:t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Figure 6. The primary performance claim remains the prespecified nested selection pipeline.</a:t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Figure 3 and Table 4.</a:t>
            </a:r>
            <a:endParaRPr/>
          </a:p>
        </p:txBody>
      </p:sp>
      <p:sp>
        <p:nvSpPr>
          <p:cNvPr id="303" name="Google Shape;30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Figure 4. Primary and matched-cohort probability metrics are shown together but are not directly exchangeable because cohort sizes differ.</a:t>
            </a:r>
            <a:endParaRPr/>
          </a:p>
        </p:txBody>
      </p:sp>
      <p:sp>
        <p:nvSpPr>
          <p:cNvPr id="321" name="Google Shape;32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Table 3. Values in parentheses are reported 95% confidence intervals.</a:t>
            </a:r>
            <a:endParaRPr/>
          </a:p>
        </p:txBody>
      </p:sp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Tables 5 and 6. None of the predeclared sensitivity analyses improved on the primary direct three-class pipeline.</a:t>
            </a:r>
            <a:endParaRPr/>
          </a:p>
        </p:txBody>
      </p:sp>
      <p:sp>
        <p:nvSpPr>
          <p:cNvPr id="353" name="Google Shape;35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/workspace/scratch/ad3407d0edac/upload/Journal_Ready_Results_IMU_EMG(1).docx, Overall interpretation.</a:t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 /workspace/scratch/ad3407d0edac/upload/Materials_and_Methods_SGAS_v2_IMU_EMG(1).docx and /workspace/scratch/ad3407d0edac/upload/Journal_Ready_Results_IMU_EMG(1).docx. The current findings should be framed as proof-of-concept evidence.</a:t>
            </a:r>
            <a:endParaRPr/>
          </a:p>
        </p:txBody>
      </p:sp>
      <p:sp>
        <p:nvSpPr>
          <p:cNvPr id="383" name="Google Shape;38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Closing slide.</a:t>
            </a:r>
            <a:endParaRPr/>
          </a:p>
        </p:txBody>
      </p:sp>
      <p:sp>
        <p:nvSpPr>
          <p:cNvPr id="397" name="Google Shape;39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95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75A9D2"/>
          </a:solidFill>
          <a:ln cap="flat" cmpd="sng" w="9525">
            <a:solidFill>
              <a:srgbClr val="75A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204A72"/>
          </a:solidFill>
          <a:ln cap="flat" cmpd="sng" w="9525">
            <a:solidFill>
              <a:srgbClr val="20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781050" y="1123950"/>
            <a:ext cx="9525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Multiclass Gait Asymmetry Severity Classification for Post-Stroke Rehabilitation Using Wearable IMU and EMG Signals</a:t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838200" y="3905250"/>
            <a:ext cx="6286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DCEAF4"/>
                </a:solidFill>
                <a:latin typeface="Arial"/>
                <a:ea typeface="Arial"/>
                <a:cs typeface="Arial"/>
                <a:sym typeface="Arial"/>
              </a:rPr>
              <a:t>Stamatios Orfanos</a:t>
            </a: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838200" y="476250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75A9D2"/>
                </a:solidFill>
              </a:rPr>
              <a:t>NCKU </a:t>
            </a:r>
            <a:r>
              <a:rPr b="1" lang="en-US" sz="2250">
                <a:solidFill>
                  <a:srgbClr val="75A9D2"/>
                </a:solidFill>
                <a:latin typeface="Arial"/>
                <a:ea typeface="Arial"/>
                <a:cs typeface="Arial"/>
                <a:sym typeface="Arial"/>
              </a:rPr>
              <a:t>FHED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75A9D2"/>
                </a:solidFill>
                <a:latin typeface="Arial"/>
                <a:ea typeface="Arial"/>
                <a:cs typeface="Arial"/>
                <a:sym typeface="Arial"/>
              </a:rPr>
              <a:t>Taiwan</a:t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8477250" y="4953000"/>
            <a:ext cx="304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Sensor-Derived Gait Asymmetry Severity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Gait asymmetry after stroke</a:t>
            </a:r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9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742950" y="1447800"/>
            <a:ext cx="4286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Why severity matters</a:t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742950" y="1952625"/>
            <a:ext cx="619125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Stroke can alter timing, movement amplitude, variability, and coordination between the two legs.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 single healthy-versus-stroke label cannot describe the degree of gait asymmetry.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Rehabilitation teams need repeatable measurements that can track meaningful change over time.</a:t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8048625" y="1714500"/>
            <a:ext cx="2381250" cy="2381250"/>
          </a:xfrm>
          <a:prstGeom prst="ellipse">
            <a:avLst/>
          </a:prstGeom>
          <a:solidFill>
            <a:srgbClr val="EAF2F8"/>
          </a:solidFill>
          <a:ln cap="flat" cmpd="sng" w="28575">
            <a:solidFill>
              <a:srgbClr val="75A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29625" y="2352675"/>
            <a:ext cx="1619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Bilateral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movement</a:t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7505700" y="4348163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Severity classification converts complex bilateral motion into an interpretable three-level outcome.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GaitRehab: a lower-cost measurement pathway</a:t>
            </a:r>
            <a:endParaRPr/>
          </a:p>
        </p:txBody>
      </p:sp>
      <p:cxnSp>
        <p:nvCxnSpPr>
          <p:cNvPr id="64" name="Google Shape;64;p10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0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876300" y="1504950"/>
            <a:ext cx="4095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Conventional assessment</a:t>
            </a: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876300" y="2038350"/>
            <a:ext cx="4476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Laboratory systems can require specialized equipment, dedicated space, and trained operators.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Access may be limited outside large rehabilitation centers.</a:t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6667500" y="1504950"/>
            <a:ext cx="4095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GaitRehab approach</a:t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6667500" y="2038350"/>
            <a:ext cx="4476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Wearable IMU and EMG measurements support portable data collection.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AI models estimate sensor-derived gait asymmetry severity from participant-level features.</a:t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2419350" y="4762500"/>
            <a:ext cx="7334250" cy="876300"/>
          </a:xfrm>
          <a:prstGeom prst="roundRect">
            <a:avLst>
              <a:gd fmla="val 8696" name="adj"/>
            </a:avLst>
          </a:prstGeom>
          <a:solidFill>
            <a:srgbClr val="17395C"/>
          </a:solidFill>
          <a:ln cap="flat" cmpd="sng" w="9525">
            <a:solidFill>
              <a:srgbClr val="1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2762250" y="4972050"/>
            <a:ext cx="6667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presentation focuses on SGAS-v2: Sensor-Derived Gait Asymmetry Severity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Wearable signals: IMU and EMG</a:t>
            </a:r>
            <a:endParaRPr/>
          </a:p>
        </p:txBody>
      </p:sp>
      <p:cxnSp>
        <p:nvCxnSpPr>
          <p:cNvPr id="80" name="Google Shape;80;p11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1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742950" y="127635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IMU</a:t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742950" y="1657350"/>
            <a:ext cx="101157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Bilateral shank accelerometers capture linear movement in three axes.</a:t>
            </a:r>
            <a:endParaRPr sz="1500"/>
          </a:p>
          <a:p>
            <a:pPr indent="-952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Gyroscopes capture angular velocity.  </a:t>
            </a:r>
            <a:endParaRPr sz="1500">
              <a:solidFill>
                <a:srgbClr val="1F2D3D"/>
              </a:solidFill>
            </a:endParaRPr>
          </a:p>
          <a:p>
            <a:pPr indent="-32385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○"/>
            </a:pP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Gyroscope-z supports gait-cycle detection</a:t>
            </a:r>
            <a:endParaRPr sz="1500">
              <a:solidFill>
                <a:srgbClr val="1F2D3D"/>
              </a:solidFill>
            </a:endParaRPr>
          </a:p>
          <a:p>
            <a:pPr indent="-32385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○"/>
            </a:pPr>
            <a:r>
              <a:rPr lang="en-US" sz="1500">
                <a:solidFill>
                  <a:srgbClr val="1F2D3D"/>
                </a:solidFill>
              </a:rPr>
              <a:t> G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yroscope-x/y supplies eligible predictors.</a:t>
            </a:r>
            <a:endParaRPr sz="1500"/>
          </a:p>
        </p:txBody>
      </p:sp>
      <p:sp>
        <p:nvSpPr>
          <p:cNvPr id="85" name="Google Shape;85;p11"/>
          <p:cNvSpPr/>
          <p:nvPr/>
        </p:nvSpPr>
        <p:spPr>
          <a:xfrm>
            <a:off x="1452750" y="5899713"/>
            <a:ext cx="43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E6B78"/>
                </a:solidFill>
              </a:rPr>
              <a:t>Raw Gyroscope</a:t>
            </a:r>
            <a:r>
              <a:rPr b="1" lang="en-US" sz="15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 waveform </a:t>
            </a:r>
            <a:r>
              <a:rPr b="1" lang="en-US" sz="1575">
                <a:solidFill>
                  <a:srgbClr val="5E6B78"/>
                </a:solidFill>
              </a:rPr>
              <a:t>data</a:t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>
            <a:off x="6666400" y="5885463"/>
            <a:ext cx="43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E6B78"/>
                </a:solidFill>
              </a:rPr>
              <a:t>Raw Accelerometer</a:t>
            </a:r>
            <a:r>
              <a:rPr b="1" lang="en-US" sz="15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 waveform </a:t>
            </a:r>
            <a:r>
              <a:rPr b="1" lang="en-US" sz="1575">
                <a:solidFill>
                  <a:srgbClr val="5E6B78"/>
                </a:solidFill>
              </a:rPr>
              <a:t>data</a:t>
            </a:r>
            <a:endParaRPr/>
          </a:p>
        </p:txBody>
      </p:sp>
      <p:pic>
        <p:nvPicPr>
          <p:cNvPr id="87" name="Google Shape;87;p11" title="Healthy_Patient_11_raw_gyrosco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950" y="3139050"/>
            <a:ext cx="5357348" cy="267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 title="Healthy_Patient_11_raw_accelerome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100" y="3178313"/>
            <a:ext cx="5221898" cy="2610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0" y="0"/>
            <a:ext cx="17160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Wearable signals: IMU and EMG</a:t>
            </a:r>
            <a:endParaRPr/>
          </a:p>
        </p:txBody>
      </p:sp>
      <p:cxnSp>
        <p:nvCxnSpPr>
          <p:cNvPr id="96" name="Google Shape;96;p12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2"/>
          <p:cNvSpPr/>
          <p:nvPr/>
        </p:nvSpPr>
        <p:spPr>
          <a:xfrm>
            <a:off x="723900" y="6515100"/>
            <a:ext cx="2667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10858500" y="6515100"/>
            <a:ext cx="571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685800" y="119857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EMG</a:t>
            </a:r>
            <a:endParaRPr/>
          </a:p>
        </p:txBody>
      </p:sp>
      <p:sp>
        <p:nvSpPr>
          <p:cNvPr id="100" name="Google Shape;100;p12"/>
          <p:cNvSpPr/>
          <p:nvPr/>
        </p:nvSpPr>
        <p:spPr>
          <a:xfrm>
            <a:off x="685800" y="1665300"/>
            <a:ext cx="10172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8997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Extracted features represent activation from six lower-limb muscle groups.</a:t>
            </a:r>
            <a:endParaRPr sz="1500"/>
          </a:p>
          <a:p>
            <a:pPr indent="-98997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Order-invariant bilateral means and absolute differences avoid assuming row laterality.</a:t>
            </a:r>
            <a:endParaRPr sz="1500"/>
          </a:p>
        </p:txBody>
      </p:sp>
      <p:sp>
        <p:nvSpPr>
          <p:cNvPr id="101" name="Google Shape;101;p12"/>
          <p:cNvSpPr/>
          <p:nvPr/>
        </p:nvSpPr>
        <p:spPr>
          <a:xfrm>
            <a:off x="3943350" y="5925213"/>
            <a:ext cx="43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E6B78"/>
                </a:solidFill>
              </a:rPr>
              <a:t>Raw </a:t>
            </a:r>
            <a:r>
              <a:rPr b="1" lang="en-US" sz="15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EMG waveform image</a:t>
            </a:r>
            <a:endParaRPr/>
          </a:p>
        </p:txBody>
      </p:sp>
      <p:pic>
        <p:nvPicPr>
          <p:cNvPr id="102" name="Google Shape;102;p12" title="Healthy_Patient_11_raw_e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405" y="2430605"/>
            <a:ext cx="6989199" cy="34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Dataset structure and analytical cohorts</a:t>
            </a:r>
            <a:endParaRPr/>
          </a:p>
        </p:txBody>
      </p:sp>
      <p:cxnSp>
        <p:nvCxnSpPr>
          <p:cNvPr id="110" name="Google Shape;110;p13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3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2476500" y="1354575"/>
            <a:ext cx="21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2476500" y="1945125"/>
            <a:ext cx="2190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2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raw participant folders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2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16 healthy and 16 stroke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4857750" y="1354575"/>
            <a:ext cx="21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4857750" y="1945125"/>
            <a:ext cx="2190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2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valid frozen SGAS-v2 records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7239000" y="1354575"/>
            <a:ext cx="247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7239000" y="1945125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2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matched participants for modality comparison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6856875" y="5788013"/>
            <a:ext cx="406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Stroke participant signal example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1628100" y="5743413"/>
            <a:ext cx="406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E6B78"/>
                </a:solidFill>
              </a:rPr>
              <a:t>Healthy</a:t>
            </a:r>
            <a:r>
              <a:rPr b="1" lang="en-US" sz="15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 participant signal example</a:t>
            </a:r>
            <a:endParaRPr/>
          </a:p>
        </p:txBody>
      </p:sp>
      <p:pic>
        <p:nvPicPr>
          <p:cNvPr id="121" name="Google Shape;121;p13" title="Healthy_Patient_2_cycle_valid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50" y="2799075"/>
            <a:ext cx="5609825" cy="28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title="Stroke_Patient_16_cycle_valid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750" y="2871675"/>
            <a:ext cx="5319424" cy="26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4"/>
          <p:cNvCxnSpPr>
            <a:stCxn id="129" idx="3"/>
            <a:endCxn id="130" idx="1"/>
          </p:cNvCxnSpPr>
          <p:nvPr/>
        </p:nvCxnSpPr>
        <p:spPr>
          <a:xfrm>
            <a:off x="8248650" y="2018550"/>
            <a:ext cx="5145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1" name="Google Shape;131;p14"/>
          <p:cNvCxnSpPr>
            <a:stCxn id="132" idx="3"/>
            <a:endCxn id="129" idx="1"/>
          </p:cNvCxnSpPr>
          <p:nvPr/>
        </p:nvCxnSpPr>
        <p:spPr>
          <a:xfrm>
            <a:off x="5638800" y="2018550"/>
            <a:ext cx="5145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3" name="Google Shape;133;p14"/>
          <p:cNvCxnSpPr>
            <a:stCxn id="134" idx="3"/>
            <a:endCxn id="132" idx="1"/>
          </p:cNvCxnSpPr>
          <p:nvPr/>
        </p:nvCxnSpPr>
        <p:spPr>
          <a:xfrm>
            <a:off x="3028950" y="2018550"/>
            <a:ext cx="5145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35" name="Google Shape;135;p1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Signal synchronization and conditioning</a:t>
            </a:r>
            <a:endParaRPr/>
          </a:p>
        </p:txBody>
      </p:sp>
      <p:cxnSp>
        <p:nvCxnSpPr>
          <p:cNvPr id="137" name="Google Shape;137;p14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4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933450" y="1304100"/>
            <a:ext cx="2095500" cy="142890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1085850" y="1437450"/>
            <a:ext cx="179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Common interval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085850" y="1799400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Retain the overlapping interval across four bilateral IMU streams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3543300" y="1304100"/>
            <a:ext cx="2095500" cy="142890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3695700" y="1437450"/>
            <a:ext cx="179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100 Hz grid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3695700" y="1799400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4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Linear interpolation with a 50 ms nearest-observation validity limit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6153150" y="1304100"/>
            <a:ext cx="2095500" cy="142890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6305550" y="1437450"/>
            <a:ext cx="179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Valid segments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6305550" y="1799400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4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Use contiguous bilateral gyroscope segments lasting at least 8 seconds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8763000" y="1304100"/>
            <a:ext cx="2095500" cy="142890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915400" y="1437450"/>
            <a:ext cx="179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35 Hz filter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8915400" y="1799400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Second-order Butterworth filtering with zero phase</a:t>
            </a:r>
            <a:endParaRPr/>
          </a:p>
        </p:txBody>
      </p:sp>
      <p:pic>
        <p:nvPicPr>
          <p:cNvPr id="148" name="Google Shape;148;p14" title="Healthy_Patient_1_cycle_valid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400" y="2893375"/>
            <a:ext cx="6983199" cy="34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Gait-cycle detection and quality control</a:t>
            </a:r>
            <a:endParaRPr/>
          </a:p>
        </p:txBody>
      </p:sp>
      <p:cxnSp>
        <p:nvCxnSpPr>
          <p:cNvPr id="156" name="Google Shape;156;p15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5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723900" y="1229700"/>
            <a:ext cx="50283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Signal polarity was determined within each segment before positive-peak detection.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Adaptive thresholds used the median absolute deviation and minimum peak prominence.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Accepted cycles lasted 0.60 to 2.00 seconds, with peaks at least 0.80 seconds apart.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Each participant required at least 10 valid cycles per leg.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Automatic Quality Control flags triggered plot review rather than automatic exclusion.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068200" y="4224950"/>
            <a:ext cx="36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Cycle validation plot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Filtered gyroscope-z and accepted cycle starts</a:t>
            </a:r>
            <a:endParaRPr/>
          </a:p>
        </p:txBody>
      </p:sp>
      <p:pic>
        <p:nvPicPr>
          <p:cNvPr id="161" name="Google Shape;161;p15" title="Healthy_Patient_1_filtered_gyro_z_cycle_valid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675" y="1292125"/>
            <a:ext cx="5581327" cy="279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16"/>
          <p:cNvCxnSpPr>
            <a:stCxn id="168" idx="3"/>
            <a:endCxn id="169" idx="1"/>
          </p:cNvCxnSpPr>
          <p:nvPr/>
        </p:nvCxnSpPr>
        <p:spPr>
          <a:xfrm>
            <a:off x="7810500" y="2238375"/>
            <a:ext cx="4287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70" name="Google Shape;170;p16"/>
          <p:cNvCxnSpPr>
            <a:stCxn id="171" idx="3"/>
            <a:endCxn id="168" idx="1"/>
          </p:cNvCxnSpPr>
          <p:nvPr/>
        </p:nvCxnSpPr>
        <p:spPr>
          <a:xfrm>
            <a:off x="5286375" y="2238375"/>
            <a:ext cx="4287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72" name="Google Shape;172;p16"/>
          <p:cNvCxnSpPr>
            <a:stCxn id="173" idx="3"/>
            <a:endCxn id="171" idx="1"/>
          </p:cNvCxnSpPr>
          <p:nvPr/>
        </p:nvCxnSpPr>
        <p:spPr>
          <a:xfrm>
            <a:off x="2762250" y="2238375"/>
            <a:ext cx="4287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74" name="Google Shape;174;p1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SGAS-v2 score and frozen severity classes</a:t>
            </a:r>
            <a:endParaRPr/>
          </a:p>
        </p:txBody>
      </p:sp>
      <p:cxnSp>
        <p:nvCxnSpPr>
          <p:cNvPr id="176" name="Google Shape;176;p16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6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66750" y="1524000"/>
            <a:ext cx="2095500" cy="142875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74950" y="1586425"/>
            <a:ext cx="201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3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Four components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785813" y="1910425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3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Temporal, amplitude, variability, and waveform asymmetry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3190875" y="1524000"/>
            <a:ext cx="2095500" cy="142875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267075" y="1586425"/>
            <a:ext cx="1943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2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Healthy reference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3343275" y="1965800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Robust median and median absolute deviation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15000" y="1524000"/>
            <a:ext cx="2095500" cy="142875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5867400" y="1586500"/>
            <a:ext cx="179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Continuous score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867438" y="1965875"/>
            <a:ext cx="17907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94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Nonnegative robust z-scores, asinh transform, equal weights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8239125" y="1524000"/>
            <a:ext cx="2381250" cy="1428750"/>
          </a:xfrm>
          <a:prstGeom prst="roundRect">
            <a:avLst>
              <a:gd fmla="val 5333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8391525" y="1586575"/>
            <a:ext cx="207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Frozen classes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8391550" y="1965875"/>
            <a:ext cx="2076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Low/reference, Moderate, and High asymmetry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685800" y="3333750"/>
            <a:ext cx="295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Class formation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723900" y="3757613"/>
            <a:ext cx="9810900" cy="19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660"/>
              <a:buFont typeface="Arial"/>
              <a:buChar char="•"/>
            </a:pPr>
            <a:r>
              <a:rPr lang="en-US" sz="1661">
                <a:solidFill>
                  <a:srgbClr val="1F2D3D"/>
                </a:solidFill>
              </a:rPr>
              <a:t> </a:t>
            </a:r>
            <a:r>
              <a:rPr lang="en-US" sz="166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All valid healthy participants formed the Low/reference class.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660"/>
              <a:buFont typeface="Arial"/>
              <a:buChar char="•"/>
            </a:pPr>
            <a:r>
              <a:rPr lang="en-US" sz="1661">
                <a:solidFill>
                  <a:srgbClr val="1F2D3D"/>
                </a:solidFill>
              </a:rPr>
              <a:t> </a:t>
            </a:r>
            <a:r>
              <a:rPr lang="en-US" sz="166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Stroke scores were divided by a transparent median-rank rule with at least five participants per class.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660"/>
              <a:buFont typeface="Arial"/>
              <a:buChar char="•"/>
            </a:pPr>
            <a:r>
              <a:rPr lang="en-US" sz="1661">
                <a:solidFill>
                  <a:srgbClr val="1F2D3D"/>
                </a:solidFill>
              </a:rPr>
              <a:t> </a:t>
            </a:r>
            <a:r>
              <a:rPr lang="en-US" sz="166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 500-resample bootstrap quantified boundary stability; confidence below 0.70 marked a borderline assignment.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660"/>
              <a:buFont typeface="Arial"/>
              <a:buChar char="•"/>
            </a:pPr>
            <a:r>
              <a:rPr lang="en-US" sz="1661">
                <a:solidFill>
                  <a:srgbClr val="1F2D3D"/>
                </a:solidFill>
              </a:rPr>
              <a:t> </a:t>
            </a:r>
            <a:r>
              <a:rPr lang="en-US" sz="166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score definition and participant labels were fingerprinted before model fitting.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17"/>
          <p:cNvCxnSpPr>
            <a:stCxn id="195" idx="3"/>
            <a:endCxn id="196" idx="1"/>
          </p:cNvCxnSpPr>
          <p:nvPr/>
        </p:nvCxnSpPr>
        <p:spPr>
          <a:xfrm>
            <a:off x="6334125" y="2357438"/>
            <a:ext cx="7620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97" name="Google Shape;197;p17"/>
          <p:cNvCxnSpPr>
            <a:stCxn id="198" idx="3"/>
            <a:endCxn id="195" idx="1"/>
          </p:cNvCxnSpPr>
          <p:nvPr/>
        </p:nvCxnSpPr>
        <p:spPr>
          <a:xfrm>
            <a:off x="3190875" y="2357438"/>
            <a:ext cx="7620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99" name="Google Shape;199;p17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Processing outcomes and participant eligibility</a:t>
            </a:r>
            <a:endParaRPr/>
          </a:p>
        </p:txBody>
      </p:sp>
      <p:cxnSp>
        <p:nvCxnSpPr>
          <p:cNvPr id="201" name="Google Shape;201;p17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7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809625" y="1619250"/>
            <a:ext cx="2381250" cy="1476375"/>
          </a:xfrm>
          <a:prstGeom prst="roundRect">
            <a:avLst>
              <a:gd fmla="val 5161" name="adj"/>
            </a:avLst>
          </a:prstGeom>
          <a:solidFill>
            <a:srgbClr val="F5F7F9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962025" y="1752600"/>
            <a:ext cx="2076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Raw archive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962025" y="2114550"/>
            <a:ext cx="2076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32 participants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16 healthy and 16 stroke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952875" y="1619250"/>
            <a:ext cx="2381250" cy="1476375"/>
          </a:xfrm>
          <a:prstGeom prst="roundRect">
            <a:avLst>
              <a:gd fmla="val 5161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4105275" y="1752600"/>
            <a:ext cx="2076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Frozen SGAS-v2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4105275" y="2114550"/>
            <a:ext cx="2076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30 valid participants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15 Low, 7 Moderate, 8 High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7096125" y="1619250"/>
            <a:ext cx="2667000" cy="1476375"/>
          </a:xfrm>
          <a:prstGeom prst="roundRect">
            <a:avLst>
              <a:gd fmla="val 5161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7248525" y="1752600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Matched multimodal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7248525" y="2114550"/>
            <a:ext cx="23622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28 participants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14 Low, 6 Moderate, 8 High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819150" y="3762375"/>
            <a:ext cx="9620250" cy="1952625"/>
          </a:xfrm>
          <a:prstGeom prst="roundRect">
            <a:avLst>
              <a:gd fmla="val 3902" name="adj"/>
            </a:avLst>
          </a:prstGeom>
          <a:solidFill>
            <a:srgbClr val="F5F7F9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1095375" y="3952875"/>
            <a:ext cx="3048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8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Eligibility interpretation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1095375" y="4355975"/>
            <a:ext cx="87630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450"/>
              <a:buFont typeface="Arial"/>
              <a:buChar char="•"/>
            </a:pPr>
            <a:r>
              <a:rPr lang="en-US" sz="1451">
                <a:solidFill>
                  <a:srgbClr val="1F2D3D"/>
                </a:solidFill>
              </a:rPr>
              <a:t> </a:t>
            </a:r>
            <a:r>
              <a:rPr lang="en-US" sz="145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Two raw participants did not produce valid frozen SGAS-v2 records after sensor-quality processing.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450"/>
              <a:buFont typeface="Arial"/>
              <a:buChar char="•"/>
            </a:pPr>
            <a:r>
              <a:rPr lang="en-US" sz="1451">
                <a:solidFill>
                  <a:srgbClr val="1F2D3D"/>
                </a:solidFill>
              </a:rPr>
              <a:t> </a:t>
            </a:r>
            <a:r>
              <a:rPr lang="en-US" sz="145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matched analysis required both a frozen severity label and a verified mapped feature record.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450"/>
              <a:buFont typeface="Arial"/>
              <a:buChar char="•"/>
            </a:pPr>
            <a:r>
              <a:rPr lang="en-US" sz="1451">
                <a:solidFill>
                  <a:srgbClr val="1F2D3D"/>
                </a:solidFill>
              </a:rPr>
              <a:t> </a:t>
            </a:r>
            <a:r>
              <a:rPr lang="en-US" sz="1451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Quality Control flags prompted manual review and did not automatically remove otherwise acceptable participants.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Predictor construction and leakage control</a:t>
            </a:r>
            <a:endParaRPr/>
          </a:p>
        </p:txBody>
      </p:sp>
      <p:cxnSp>
        <p:nvCxnSpPr>
          <p:cNvPr id="220" name="Google Shape;220;p18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8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723900" y="1247775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Eligible inputs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723900" y="1698675"/>
            <a:ext cx="4762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96 cycle-aligned IMU predictors from accelerometer and gyroscope-x/y signals.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312 participant-level EMG predictors from bilateral means and absolute differences.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408 predictors in the matched combined analysis before inner-fold selection.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723900" y="4054575"/>
            <a:ext cx="37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85A5A"/>
                </a:solidFill>
                <a:latin typeface="Arial"/>
                <a:ea typeface="Arial"/>
                <a:cs typeface="Arial"/>
                <a:sym typeface="Arial"/>
              </a:rPr>
              <a:t>Protected target definition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723900" y="4505475"/>
            <a:ext cx="47625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94"/>
              <a:buFont typeface="Arial"/>
              <a:buChar char="•"/>
            </a:pPr>
            <a:r>
              <a:rPr lang="en-US" sz="1595">
                <a:solidFill>
                  <a:srgbClr val="1F2D3D"/>
                </a:solidFill>
              </a:rPr>
              <a:t> </a:t>
            </a:r>
            <a:r>
              <a:rPr lang="en-US" sz="1595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Gyroscope-z and every direct SGAS-v2 descendant were excluded from classifier inputs.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94"/>
              <a:buFont typeface="Arial"/>
              <a:buChar char="•"/>
            </a:pPr>
            <a:r>
              <a:rPr lang="en-US" sz="1595">
                <a:solidFill>
                  <a:srgbClr val="1F2D3D"/>
                </a:solidFill>
              </a:rPr>
              <a:t> </a:t>
            </a:r>
            <a:r>
              <a:rPr lang="en-US" sz="1595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Imputation, scaling, feature selection, and fitting occurred inside the training folds only.</a:t>
            </a:r>
            <a:endParaRPr/>
          </a:p>
        </p:txBody>
      </p:sp>
      <p:pic>
        <p:nvPicPr>
          <p:cNvPr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0455" y="1962350"/>
            <a:ext cx="5759045" cy="35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19"/>
          <p:cNvCxnSpPr>
            <a:stCxn id="234" idx="3"/>
            <a:endCxn id="235" idx="1"/>
          </p:cNvCxnSpPr>
          <p:nvPr/>
        </p:nvCxnSpPr>
        <p:spPr>
          <a:xfrm>
            <a:off x="7524750" y="2476500"/>
            <a:ext cx="11430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36" name="Google Shape;236;p19"/>
          <p:cNvCxnSpPr>
            <a:stCxn id="237" idx="3"/>
            <a:endCxn id="234" idx="1"/>
          </p:cNvCxnSpPr>
          <p:nvPr/>
        </p:nvCxnSpPr>
        <p:spPr>
          <a:xfrm>
            <a:off x="3524250" y="2476500"/>
            <a:ext cx="1143000" cy="0"/>
          </a:xfrm>
          <a:prstGeom prst="straightConnector1">
            <a:avLst/>
          </a:prstGeom>
          <a:noFill/>
          <a:ln cap="flat" cmpd="sng" w="23800">
            <a:solidFill>
              <a:srgbClr val="75A9D2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38" name="Google Shape;238;p19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Nested subject-level model evaluation</a:t>
            </a:r>
            <a:endParaRPr/>
          </a:p>
        </p:txBody>
      </p:sp>
      <p:cxnSp>
        <p:nvCxnSpPr>
          <p:cNvPr id="240" name="Google Shape;240;p19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9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66750" y="1619250"/>
            <a:ext cx="2857500" cy="1714500"/>
          </a:xfrm>
          <a:prstGeom prst="roundRect">
            <a:avLst>
              <a:gd fmla="val 4444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819150" y="17526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Outer LOSO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819150" y="2109788"/>
            <a:ext cx="25527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Hold out one complete participant for final evaluation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667250" y="1619250"/>
            <a:ext cx="2857500" cy="1714500"/>
          </a:xfrm>
          <a:prstGeom prst="roundRect">
            <a:avLst>
              <a:gd fmla="val 4444" name="adj"/>
            </a:avLst>
          </a:prstGeom>
          <a:solidFill>
            <a:srgbClr val="F5F7F9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4819650" y="17526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Inner grouped CV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4819650" y="2114550"/>
            <a:ext cx="25527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Select sensor set, model, hyperparameters, and 5 or 10 predictors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8667750" y="1619250"/>
            <a:ext cx="2857500" cy="1714500"/>
          </a:xfrm>
          <a:prstGeom prst="roundRect">
            <a:avLst>
              <a:gd fmla="val 4444" name="adj"/>
            </a:avLst>
          </a:prstGeom>
          <a:solidFill>
            <a:srgbClr val="EAF2F8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8820150" y="17526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Held-out prediction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8820150" y="2114550"/>
            <a:ext cx="25527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Refit on outer-training participants and predict once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723900" y="3857625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Candidate model families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723900" y="4333875"/>
            <a:ext cx="10287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39"/>
              <a:buFont typeface="Arial"/>
              <a:buChar char="•"/>
            </a:pPr>
            <a:r>
              <a:rPr lang="en-US" sz="1540">
                <a:solidFill>
                  <a:srgbClr val="1F2D3D"/>
                </a:solidFill>
              </a:rPr>
              <a:t> </a:t>
            </a:r>
            <a:r>
              <a:rPr lang="en-US" sz="154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Logistic regression, linear SVM, RBF SVM, k-nearest neighbours, Gaussian naive Bayes, and shrinkage LDA.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39"/>
              <a:buFont typeface="Arial"/>
              <a:buChar char="•"/>
            </a:pPr>
            <a:r>
              <a:rPr lang="en-US" sz="1540">
                <a:solidFill>
                  <a:srgbClr val="1F2D3D"/>
                </a:solidFill>
              </a:rPr>
              <a:t> </a:t>
            </a:r>
            <a:r>
              <a:rPr lang="en-US" sz="154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Decision tree, random forest, extra trees, gradient boosting, and AdaBoost.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39"/>
              <a:buFont typeface="Arial"/>
              <a:buChar char="•"/>
            </a:pPr>
            <a:r>
              <a:rPr lang="en-US" sz="1540">
                <a:solidFill>
                  <a:srgbClr val="1F2D3D"/>
                </a:solidFill>
              </a:rPr>
              <a:t> </a:t>
            </a:r>
            <a:r>
              <a:rPr lang="en-US" sz="154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Inner macro-F1 selected the configuration; balanced accuracy resolved ties.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39"/>
              <a:buFont typeface="Arial"/>
              <a:buChar char="•"/>
            </a:pPr>
            <a:r>
              <a:rPr lang="en-US" sz="1540">
                <a:solidFill>
                  <a:srgbClr val="1F2D3D"/>
                </a:solidFill>
              </a:rPr>
              <a:t> </a:t>
            </a:r>
            <a:r>
              <a:rPr lang="en-US" sz="154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Final metrics came from pooled outer predictions with 2,000 stratified bootstrap resamples for confidence intervals.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Pooled nested outer-LOSO performance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704850" y="100012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Point estimates with reported 95% confidence intervals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0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262" name="Google Shape;2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694" y="1381125"/>
            <a:ext cx="741586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/>
          <p:nvPr/>
        </p:nvSpPr>
        <p:spPr>
          <a:xfrm>
            <a:off x="8810625" y="1619250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Matched IMU + EMG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8858250" y="2286000"/>
            <a:ext cx="257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6FA35B"/>
                </a:solidFill>
                <a:latin typeface="Arial"/>
                <a:ea typeface="Arial"/>
                <a:cs typeface="Arial"/>
                <a:sym typeface="Arial"/>
              </a:rPr>
              <a:t>0.821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8858250" y="2876550"/>
            <a:ext cx="2571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8858250" y="3476625"/>
            <a:ext cx="257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6FA35B"/>
                </a:solidFill>
                <a:latin typeface="Arial"/>
                <a:ea typeface="Arial"/>
                <a:cs typeface="Arial"/>
                <a:sym typeface="Arial"/>
              </a:rPr>
              <a:t>0.736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8858250" y="4067175"/>
            <a:ext cx="2571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8858250" y="4667250"/>
            <a:ext cx="257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6FA35B"/>
                </a:solidFill>
                <a:latin typeface="Arial"/>
                <a:ea typeface="Arial"/>
                <a:cs typeface="Arial"/>
                <a:sym typeface="Arial"/>
              </a:rPr>
              <a:t>0.734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8858250" y="5257800"/>
            <a:ext cx="2571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macro-F1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Outer-LOSO confusion matrices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704850" y="100012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Counts and row-normalized percentages</a:t>
            </a:r>
            <a:endParaRPr/>
          </a:p>
        </p:txBody>
      </p:sp>
      <p:cxnSp>
        <p:nvCxnSpPr>
          <p:cNvPr id="278" name="Google Shape;278;p21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1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625" y="1333500"/>
            <a:ext cx="5642576" cy="49659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/>
          <p:nvPr/>
        </p:nvSpPr>
        <p:spPr>
          <a:xfrm>
            <a:off x="7244250" y="1333500"/>
            <a:ext cx="2333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Main pattern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7244250" y="1857300"/>
            <a:ext cx="36144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4587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Low/reference recognition was consistently strongest.</a:t>
            </a:r>
            <a:endParaRPr sz="1500"/>
          </a:p>
          <a:p>
            <a:pPr indent="-124587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combined model classified all 14 matched low/reference participants correctly.</a:t>
            </a:r>
            <a:endParaRPr sz="1500"/>
          </a:p>
          <a:p>
            <a:pPr indent="-124587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Moderate asymmetry remained the weakest class.</a:t>
            </a:r>
            <a:endParaRPr sz="1500"/>
          </a:p>
          <a:p>
            <a:pPr indent="-124587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combined model identified 7 of 8 high-asymmetry participants.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Exploratory classifier-family comparison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704850" y="100012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Descriptive outer-LOSO macro-F1 values</a:t>
            </a:r>
            <a:endParaRPr/>
          </a:p>
        </p:txBody>
      </p:sp>
      <p:cxnSp>
        <p:nvCxnSpPr>
          <p:cNvPr id="292" name="Google Shape;292;p22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2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410900"/>
            <a:ext cx="6524639" cy="494450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/>
          <p:nvPr/>
        </p:nvSpPr>
        <p:spPr>
          <a:xfrm>
            <a:off x="7442575" y="1485900"/>
            <a:ext cx="3048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Highest value by analysis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7442575" y="2012225"/>
            <a:ext cx="34158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0172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Primary IMU: shrinkage LDA, 0.778.</a:t>
            </a:r>
            <a:endParaRPr sz="1500"/>
          </a:p>
          <a:p>
            <a:pPr indent="-110172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Matched IMU: linear SVM, 0.811.</a:t>
            </a:r>
            <a:endParaRPr sz="1500"/>
          </a:p>
          <a:p>
            <a:pPr indent="-110172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Matched EMG: random forest, 0.806.</a:t>
            </a:r>
            <a:endParaRPr sz="1500"/>
          </a:p>
          <a:p>
            <a:pPr indent="-110172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F2D3D"/>
                </a:solidFill>
              </a:rPr>
              <a:t> </a:t>
            </a:r>
            <a:r>
              <a:rPr lang="en-US" sz="15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Matched IMU + EMG: RBF SVM, 0.840.</a:t>
            </a:r>
            <a:endParaRPr sz="1500"/>
          </a:p>
        </p:txBody>
      </p:sp>
      <p:sp>
        <p:nvSpPr>
          <p:cNvPr id="298" name="Google Shape;298;p22"/>
          <p:cNvSpPr/>
          <p:nvPr/>
        </p:nvSpPr>
        <p:spPr>
          <a:xfrm>
            <a:off x="7626475" y="4393625"/>
            <a:ext cx="3048000" cy="1000200"/>
          </a:xfrm>
          <a:prstGeom prst="roundRect">
            <a:avLst>
              <a:gd fmla="val 7619" name="adj"/>
            </a:avLst>
          </a:prstGeom>
          <a:solidFill>
            <a:srgbClr val="F8EFEF"/>
          </a:solidFill>
          <a:ln cap="flat" cmpd="sng" w="14275">
            <a:solidFill>
              <a:srgbClr val="D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7816975" y="4557850"/>
            <a:ext cx="2667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">
                <a:solidFill>
                  <a:srgbClr val="A85A5A"/>
                </a:solidFill>
                <a:latin typeface="Arial"/>
                <a:ea typeface="Arial"/>
                <a:cs typeface="Arial"/>
                <a:sym typeface="Arial"/>
              </a:rPr>
              <a:t>Exploratory only. These outer predictions cannot also select and validate a final model.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Class-specific recall and F1</a:t>
            </a:r>
            <a:endParaRPr/>
          </a:p>
        </p:txBody>
      </p:sp>
      <p:cxnSp>
        <p:nvCxnSpPr>
          <p:cNvPr id="307" name="Google Shape;307;p23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23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pic>
        <p:nvPicPr>
          <p:cNvPr id="310" name="Google Shape;3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423" y="1409700"/>
            <a:ext cx="818825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/>
          <p:nvPr/>
        </p:nvSpPr>
        <p:spPr>
          <a:xfrm>
            <a:off x="9096375" y="1666875"/>
            <a:ext cx="2381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0">
                <a:solidFill>
                  <a:srgbClr val="B8863B"/>
                </a:solidFill>
                <a:latin typeface="Arial"/>
                <a:ea typeface="Arial"/>
                <a:cs typeface="Arial"/>
                <a:sym typeface="Arial"/>
              </a:rPr>
              <a:t>Moderate asymmetry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9191625" y="2122450"/>
            <a:ext cx="2190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67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The moderate class remained unstable across analyses.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9096450" y="3267075"/>
            <a:ext cx="2381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Best moderate result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9191775" y="3691013"/>
            <a:ext cx="21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0.667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9191850" y="4341063"/>
            <a:ext cx="2190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EMG-only recall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9191625" y="4857750"/>
            <a:ext cx="2190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0.727</a:t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9191625" y="54483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EMG-only F1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Probability-based discrimination</a:t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704850" y="100012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One-vs-rest ROC AUC and average precision</a:t>
            </a:r>
            <a:endParaRPr/>
          </a:p>
        </p:txBody>
      </p:sp>
      <p:cxnSp>
        <p:nvCxnSpPr>
          <p:cNvPr id="326" name="Google Shape;326;p24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4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pic>
        <p:nvPicPr>
          <p:cNvPr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596" y="1428750"/>
            <a:ext cx="7810658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/>
          <p:nvPr/>
        </p:nvSpPr>
        <p:spPr>
          <a:xfrm>
            <a:off x="9144000" y="1571625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Macro summaries</a:t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9144000" y="2238375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Primary IMU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9144000" y="2571750"/>
            <a:ext cx="2190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3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ROC AUC 0.896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3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Average precision 0.807</a:t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9048750" y="371475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Matched IMU + EMG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9144000" y="4048125"/>
            <a:ext cx="2190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3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ROC AUC 0.825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73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Average precision 0.679</a:t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9096375" y="5075175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94">
                <a:solidFill>
                  <a:srgbClr val="A85A5A"/>
                </a:solidFill>
                <a:latin typeface="Arial"/>
                <a:ea typeface="Arial"/>
                <a:cs typeface="Arial"/>
                <a:sym typeface="Arial"/>
              </a:rPr>
              <a:t>Primary and matched results use different participant sets.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Matched-cohort modality comparison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704850" y="100012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The same 28 participants were used in all three analyses</a:t>
            </a:r>
            <a:endParaRPr/>
          </a:p>
        </p:txBody>
      </p:sp>
      <p:cxnSp>
        <p:nvCxnSpPr>
          <p:cNvPr id="344" name="Google Shape;344;p25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5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graphicFrame>
        <p:nvGraphicFramePr>
          <p:cNvPr id="347" name="Google Shape;347;p25"/>
          <p:cNvGraphicFramePr/>
          <p:nvPr/>
        </p:nvGraphicFramePr>
        <p:xfrm>
          <a:off x="1000125" y="16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{DA39D63F-5A67-4828-AC99-A5FC7C4BD182}</a:tableStyleId>
              </a:tblPr>
              <a:tblGrid>
                <a:gridCol w="2381250"/>
                <a:gridCol w="2571750"/>
                <a:gridCol w="2667000"/>
                <a:gridCol w="2571750"/>
              </a:tblGrid>
              <a:tr h="6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Balanced 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Macro-F1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</a:tr>
              <a:tr h="6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IMU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(0.571–0.787)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0.573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(0.435–0.726)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0.564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(0.422–0.727)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EMG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(0.571–0.857)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(0.508–0.869)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(0.512–0.860)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</a:tr>
              <a:tr h="6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IMU + EMG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(0.714–0.929)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(0.583–0.889)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(0.549–0.902)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348" name="Google Shape;348;p25"/>
          <p:cNvSpPr/>
          <p:nvPr/>
        </p:nvSpPr>
        <p:spPr>
          <a:xfrm>
            <a:off x="1600200" y="4953000"/>
            <a:ext cx="9048750" cy="819150"/>
          </a:xfrm>
          <a:prstGeom prst="roundRect">
            <a:avLst>
              <a:gd fmla="val 9302" name="adj"/>
            </a:avLst>
          </a:prstGeom>
          <a:solidFill>
            <a:srgbClr val="F5F7F9"/>
          </a:solidFill>
          <a:ln cap="flat" cmpd="sng" w="1427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1933575" y="5105450"/>
            <a:ext cx="838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The combined representation produced the highest point estimates, but overlapping confidence intervals prevent a claim of a statistically significant modality effect.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Sensitivity analyses and continuous severity prediction</a:t>
            </a:r>
            <a:endParaRPr/>
          </a:p>
        </p:txBody>
      </p:sp>
      <p:cxnSp>
        <p:nvCxnSpPr>
          <p:cNvPr id="357" name="Google Shape;357;p26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26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360" name="Google Shape;360;p26"/>
          <p:cNvSpPr/>
          <p:nvPr/>
        </p:nvSpPr>
        <p:spPr>
          <a:xfrm>
            <a:off x="666750" y="14287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Three-class sensitivity analyses</a:t>
            </a:r>
            <a:endParaRPr/>
          </a:p>
        </p:txBody>
      </p:sp>
      <p:graphicFrame>
        <p:nvGraphicFramePr>
          <p:cNvPr id="361" name="Google Shape;361;p26"/>
          <p:cNvGraphicFramePr/>
          <p:nvPr/>
        </p:nvGraphicFramePr>
        <p:xfrm>
          <a:off x="66675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{DA39D63F-5A67-4828-AC99-A5FC7C4BD182}</a:tableStyleId>
              </a:tblPr>
              <a:tblGrid>
                <a:gridCol w="2667000"/>
                <a:gridCol w="1333500"/>
                <a:gridCol w="1428750"/>
                <a:gridCol w="123825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Balanced 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-US" sz="12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Macro-F1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direct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Excluding borderline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Including waveforms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Hierarchical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75"/>
                        <a:buFont typeface="Arial"/>
                        <a:buNone/>
                      </a:pPr>
                      <a:r>
                        <a:rPr lang="en-US" sz="1275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26"/>
          <p:cNvSpPr/>
          <p:nvPr/>
        </p:nvSpPr>
        <p:spPr>
          <a:xfrm>
            <a:off x="7667625" y="1524000"/>
            <a:ext cx="3857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Continuous SGAS-v2 regression</a:t>
            </a:r>
            <a:endParaRPr/>
          </a:p>
        </p:txBody>
      </p:sp>
      <p:graphicFrame>
        <p:nvGraphicFramePr>
          <p:cNvPr id="363" name="Google Shape;363;p26"/>
          <p:cNvGraphicFramePr/>
          <p:nvPr/>
        </p:nvGraphicFramePr>
        <p:xfrm>
          <a:off x="7667625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{DA39D63F-5A67-4828-AC99-A5FC7C4BD182}</a:tableStyleId>
              </a:tblPr>
              <a:tblGrid>
                <a:gridCol w="1285875"/>
                <a:gridCol w="762000"/>
                <a:gridCol w="1047750"/>
                <a:gridCol w="762000"/>
              </a:tblGrid>
              <a:tr h="6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Spearman ρ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7395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participants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= 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0.450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&lt;0.001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Stroke only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= 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F2D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0.237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364" name="Google Shape;364;p26"/>
          <p:cNvSpPr/>
          <p:nvPr/>
        </p:nvSpPr>
        <p:spPr>
          <a:xfrm>
            <a:off x="7858125" y="4667250"/>
            <a:ext cx="342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A85A5A"/>
                </a:solidFill>
                <a:latin typeface="Arial"/>
                <a:ea typeface="Arial"/>
                <a:cs typeface="Arial"/>
                <a:sym typeface="Arial"/>
              </a:rPr>
              <a:t>Within-stroke ordering was not statistically supported in this sample.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Interpretation of the findings</a:t>
            </a:r>
            <a:endParaRPr/>
          </a:p>
        </p:txBody>
      </p:sp>
      <p:cxnSp>
        <p:nvCxnSpPr>
          <p:cNvPr id="372" name="Google Shape;372;p27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27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1000125" y="1524000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6FA35B"/>
                </a:solidFill>
                <a:latin typeface="Arial"/>
                <a:ea typeface="Arial"/>
                <a:cs typeface="Arial"/>
                <a:sym typeface="Arial"/>
              </a:rPr>
              <a:t>What worked</a:t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1000125" y="2095500"/>
            <a:ext cx="447675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752"/>
              <a:buFont typeface="Arial"/>
              <a:buChar char="•"/>
            </a:pPr>
            <a:r>
              <a:rPr lang="en-US" sz="1753">
                <a:solidFill>
                  <a:srgbClr val="1F2D3D"/>
                </a:solidFill>
              </a:rPr>
              <a:t> </a:t>
            </a:r>
            <a:r>
              <a:rPr lang="en-US" sz="1752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Nested subject-level validation produced realistic held-out estimates.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752"/>
              <a:buFont typeface="Arial"/>
              <a:buChar char="•"/>
            </a:pPr>
            <a:r>
              <a:rPr lang="en-US" sz="1753">
                <a:solidFill>
                  <a:srgbClr val="1F2D3D"/>
                </a:solidFill>
              </a:rPr>
              <a:t> </a:t>
            </a:r>
            <a:r>
              <a:rPr lang="en-US" sz="1752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combined modality achieved the strongest matched-cohort point estimates.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752"/>
              <a:buFont typeface="Arial"/>
              <a:buChar char="•"/>
            </a:pPr>
            <a:r>
              <a:rPr lang="en-US" sz="1753">
                <a:solidFill>
                  <a:srgbClr val="1F2D3D"/>
                </a:solidFill>
              </a:rPr>
              <a:t> </a:t>
            </a:r>
            <a:r>
              <a:rPr lang="en-US" sz="1752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Low/reference and high-asymmetry participants were recognized reliably.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752"/>
              <a:buFont typeface="Arial"/>
              <a:buChar char="•"/>
            </a:pPr>
            <a:r>
              <a:rPr lang="en-US" sz="1753">
                <a:solidFill>
                  <a:srgbClr val="1F2D3D"/>
                </a:solidFill>
              </a:rPr>
              <a:t> </a:t>
            </a:r>
            <a:r>
              <a:rPr lang="en-US" sz="1752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Target construction and predictor development remained separated.</a:t>
            </a:r>
            <a:endParaRPr/>
          </a:p>
        </p:txBody>
      </p:sp>
      <p:cxnSp>
        <p:nvCxnSpPr>
          <p:cNvPr id="377" name="Google Shape;377;p27"/>
          <p:cNvCxnSpPr/>
          <p:nvPr/>
        </p:nvCxnSpPr>
        <p:spPr>
          <a:xfrm>
            <a:off x="6096000" y="1476375"/>
            <a:ext cx="0" cy="4238625"/>
          </a:xfrm>
          <a:prstGeom prst="straightConnector1">
            <a:avLst/>
          </a:prstGeom>
          <a:noFill/>
          <a:ln cap="flat" cmpd="sng" w="19050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27"/>
          <p:cNvSpPr/>
          <p:nvPr/>
        </p:nvSpPr>
        <p:spPr>
          <a:xfrm>
            <a:off x="6667500" y="1524000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A85A5A"/>
                </a:solidFill>
                <a:latin typeface="Arial"/>
                <a:ea typeface="Arial"/>
                <a:cs typeface="Arial"/>
                <a:sym typeface="Arial"/>
              </a:rPr>
              <a:t>What remains uncertain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6667500" y="2095500"/>
            <a:ext cx="447675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Moderate-asymmetry recognition remained unstable.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Confidence intervals were broad and overlapped across matched modalities.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The sample did not include an independent clinical severity scale.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6FA3"/>
          </a:solidFill>
          <a:ln cap="flat" cmpd="sng" w="9525">
            <a:solidFill>
              <a:srgbClr val="2E6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685800" y="4191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75">
                <a:solidFill>
                  <a:srgbClr val="17395C"/>
                </a:solidFill>
                <a:latin typeface="Arial"/>
                <a:ea typeface="Arial"/>
                <a:cs typeface="Arial"/>
                <a:sym typeface="Arial"/>
              </a:rPr>
              <a:t>Conclusions and next study</a:t>
            </a:r>
            <a:endParaRPr/>
          </a:p>
        </p:txBody>
      </p:sp>
      <p:cxnSp>
        <p:nvCxnSpPr>
          <p:cNvPr id="387" name="Google Shape;387;p28"/>
          <p:cNvCxnSpPr/>
          <p:nvPr/>
        </p:nvCxnSpPr>
        <p:spPr>
          <a:xfrm>
            <a:off x="685800" y="6438900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E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28"/>
          <p:cNvSpPr/>
          <p:nvPr/>
        </p:nvSpPr>
        <p:spPr>
          <a:xfrm>
            <a:off x="723900" y="6515100"/>
            <a:ext cx="2667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E6B78"/>
                </a:solidFill>
              </a:rPr>
              <a:t>NCKU </a:t>
            </a: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10858500" y="65151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75">
                <a:solidFill>
                  <a:srgbClr val="5E6B7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742950" y="1428750"/>
            <a:ext cx="10668000" cy="1143000"/>
          </a:xfrm>
          <a:prstGeom prst="roundRect">
            <a:avLst>
              <a:gd fmla="val 6667" name="adj"/>
            </a:avLst>
          </a:prstGeom>
          <a:solidFill>
            <a:srgbClr val="17395C"/>
          </a:solidFill>
          <a:ln cap="flat" cmpd="sng" w="9525">
            <a:solidFill>
              <a:srgbClr val="173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8"/>
          <p:cNvSpPr/>
          <p:nvPr/>
        </p:nvSpPr>
        <p:spPr>
          <a:xfrm>
            <a:off x="1214438" y="1666875"/>
            <a:ext cx="97632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Wearable IMU and EMG signals can support proof-of-concept classification of sensor-derived gait asymmetry severity under nested subject-level validation.</a:t>
            </a:r>
            <a:endParaRPr/>
          </a:p>
        </p:txBody>
      </p:sp>
      <p:sp>
        <p:nvSpPr>
          <p:cNvPr id="392" name="Google Shape;392;p28"/>
          <p:cNvSpPr/>
          <p:nvPr/>
        </p:nvSpPr>
        <p:spPr>
          <a:xfrm>
            <a:off x="838200" y="314325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E6FA3"/>
                </a:solidFill>
                <a:latin typeface="Arial"/>
                <a:ea typeface="Arial"/>
                <a:cs typeface="Arial"/>
                <a:sym typeface="Arial"/>
              </a:rPr>
              <a:t>Next study priorities</a:t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838200" y="3667125"/>
            <a:ext cx="9906000" cy="195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Recruit a larger cohort and preserve the frozen label definition.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Add independent clinical measures.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Preselect one final model family, then validate it at a second site with probability calibration.</a:t>
            </a:r>
            <a:endParaRPr/>
          </a:p>
          <a:p>
            <a:pPr indent="-114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D3D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2D3D"/>
                </a:solidFill>
              </a:rPr>
              <a:t> </a:t>
            </a:r>
            <a:r>
              <a:rPr lang="en-US" sz="1800">
                <a:solidFill>
                  <a:srgbClr val="1F2D3D"/>
                </a:solidFill>
                <a:latin typeface="Arial"/>
                <a:ea typeface="Arial"/>
                <a:cs typeface="Arial"/>
                <a:sym typeface="Arial"/>
              </a:rPr>
              <a:t>Improve the definition and representation of the moderate class.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95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/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75A9D2"/>
          </a:solidFill>
          <a:ln cap="flat" cmpd="sng" w="9525">
            <a:solidFill>
              <a:srgbClr val="75A9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1095375" y="1952625"/>
            <a:ext cx="10001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for your attention</a:t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>
            <a:off x="2476500" y="3143250"/>
            <a:ext cx="723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75A9D2"/>
                </a:solidFill>
                <a:latin typeface="Arial"/>
                <a:ea typeface="Arial"/>
                <a:cs typeface="Arial"/>
                <a:sym typeface="Arial"/>
              </a:rPr>
              <a:t>Questions and discussion</a:t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3714750" y="476250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DCEAF4"/>
                </a:solidFill>
              </a:rPr>
              <a:t>NCKU </a:t>
            </a:r>
            <a:r>
              <a:rPr b="0" lang="en-US" sz="1875">
                <a:solidFill>
                  <a:srgbClr val="DCEAF4"/>
                </a:solidFill>
                <a:latin typeface="Arial"/>
                <a:ea typeface="Arial"/>
                <a:cs typeface="Arial"/>
                <a:sym typeface="Arial"/>
              </a:rPr>
              <a:t>FHED 2026 · Taiwan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FHED Blue Gray">
      <a:dk1>
        <a:srgbClr val="000000"/>
      </a:dk1>
      <a:lt1>
        <a:srgbClr val="FFFFFF"/>
      </a:lt1>
      <a:dk2>
        <a:srgbClr val="17395C"/>
      </a:dk2>
      <a:lt2>
        <a:srgbClr val="D7DEE5"/>
      </a:lt2>
      <a:accent1>
        <a:srgbClr val="2E6FA3"/>
      </a:accent1>
      <a:accent2>
        <a:srgbClr val="75A9D2"/>
      </a:accent2>
      <a:accent3>
        <a:srgbClr val="6FA35B"/>
      </a:accent3>
      <a:accent4>
        <a:srgbClr val="B8863B"/>
      </a:accent4>
      <a:accent5>
        <a:srgbClr val="A85A5A"/>
      </a:accent5>
      <a:accent6>
        <a:srgbClr val="17395C"/>
      </a:accent6>
      <a:hlink>
        <a:srgbClr val="2E6FA3"/>
      </a:hlink>
      <a:folHlink>
        <a:srgbClr val="6A5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FHED Blue Gray">
      <a:dk1>
        <a:srgbClr val="000000"/>
      </a:dk1>
      <a:lt1>
        <a:srgbClr val="FFFFFF"/>
      </a:lt1>
      <a:dk2>
        <a:srgbClr val="17395C"/>
      </a:dk2>
      <a:lt2>
        <a:srgbClr val="D7DEE5"/>
      </a:lt2>
      <a:accent1>
        <a:srgbClr val="2E6FA3"/>
      </a:accent1>
      <a:accent2>
        <a:srgbClr val="75A9D2"/>
      </a:accent2>
      <a:accent3>
        <a:srgbClr val="6FA35B"/>
      </a:accent3>
      <a:accent4>
        <a:srgbClr val="B8863B"/>
      </a:accent4>
      <a:accent5>
        <a:srgbClr val="A85A5A"/>
      </a:accent5>
      <a:accent6>
        <a:srgbClr val="17395C"/>
      </a:accent6>
      <a:hlink>
        <a:srgbClr val="2E6FA3"/>
      </a:hlink>
      <a:folHlink>
        <a:srgbClr val="6A5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